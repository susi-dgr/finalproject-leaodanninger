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6"/>
    <p:sldId id="262" r:id="rId7"/>
    <p:sldId id="263" r:id="rId8"/>
    <p:sldId id="264" r:id="rId9"/>
    <p:sldId id="265" r:id="rId10"/>
    <p:sldId id="260" r:id="rId11"/>
    <p:sldId id="261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117EDA-6157-3ADF-B97B-829974FF9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A0EB187-D32B-F729-2D93-F3D587BD3E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09E3DE-D834-191D-62F5-1CE736F09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FFE049C-267F-780E-E2B4-5DCDAD9FA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94884CA-091C-527B-F68A-218C339EE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1918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D614A0-866B-C214-2A09-B3D12DB6E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BCBB9D-6F24-26B0-B351-9578F3D3C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8E459E6-EB75-0D24-E33D-DBF3DB19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83343D5-911A-7BE4-6362-AB0D640E3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65660E0-387A-F5B6-872B-C4A3C773B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75206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7D5054-43F3-0108-B4E2-EDBE30886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0051DAD-412A-78A0-DA62-1AD0A8D31D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61EABA6-F41C-ED3C-24F8-3C3B6D55E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71BB9C-B934-25F8-F565-73DD5F8B8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EABA2B3-BDD1-BA0A-C2B1-488FE2BF8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89382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0EE528-1C5A-F231-320B-49283AC0D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759D890-5FD9-4EFC-D8C9-407E03EF1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9534FBB-59B5-D62F-C208-9485A9A081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A92E350-85DA-F83E-EA02-E7C8E04FF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3A4E18F-0A78-2989-4CCF-1EA0DE376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2ADC76F-2EA7-A754-6832-9225CBD42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067634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F5FCB0-72D6-53FE-E6C8-9B7DF077F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4A71B41-CAB8-C056-3C61-26137B16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2C436FF-BE15-9C9B-3849-1AC9F8590C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E2AF611-C9E5-F605-D7A5-70DEA56403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A84B6B3-DAA1-3CAA-D850-B3BF3D8673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C8692FF-3494-9D22-D69B-7D458A8C2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A39F0C7-D85B-36E3-40DD-B155D52D4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2E100CD-A3C6-775D-FA48-7DD767525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57553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67B26A-C67C-975F-AF0E-91C104647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A8AA086-42D8-BB75-03F0-4BE3D5E8A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49E7FC6-E281-9173-06C2-C57D0822F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23204E2-CDA7-352A-2988-DC7FEE5A6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86237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E7C9F73-E0D5-CEA0-4D37-AD8A66BB3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E502352-E98E-15B8-5FF2-51608080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5DF4CC-27DF-7760-EC01-B47404FD3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8959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E5EBA-66E7-4B41-DB53-602821A32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0442E8-C2A8-9555-7C70-B5706EA93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E51757-537D-A30A-546D-E469FBAB2E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20A5498-3B30-A595-780B-2BB723BD8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7183EF7-D6B8-1243-ABBE-17DCE6974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F64A538-B0FA-C666-F39C-F29185E23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70210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A40723-30FC-6E15-45A4-D1237EACE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2D8360-E808-A7AB-5AE0-73C463965F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43CC2C-6183-D0D3-2D53-884144DF89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31217C5-AF1A-5EE2-9F57-A05237531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520D0C7-2FCC-681B-F74F-FD66134F0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B512FDE-EE7B-DF65-916B-7FA5984C2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114988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B93C66-3C22-03DD-D00E-A466F1060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18FE616-1328-30B3-94D7-C611E9BD8E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2D5734-E85A-074D-4BAC-5BBEFCACB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B42B751-7CDC-AC37-6BC7-4BE97C86F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D4D1BEA-EC33-A785-92A1-05CD6EABF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0591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91B1963-ABF0-8E48-0661-A66908281C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1A8832D-A501-12C1-3AC9-3336BCFE1F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CB5820-BFD5-B403-0F49-FB8500102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92305E-C1A0-822C-9CBD-2590387C6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943FCE-A06E-B4C8-7F56-E2484933C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63226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BFBBBED-990A-D3CE-7CE2-72E3C5A19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D43FAF9-8E42-0D19-C1C2-A560AB1108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5D3288-9453-435D-93AE-D972F863F6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B996E3-65A0-E28D-9DF4-966EC4EF68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EE49C9-25C0-2670-1DB9-910713F15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67178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AAAE216-FB38-54B2-6B4E-397FD9082A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de-AT" sz="3700">
                <a:solidFill>
                  <a:schemeClr val="tx2"/>
                </a:solidFill>
              </a:rPr>
              <a:t>Infrastructure for Order Processing System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D3C786E-551E-519F-487C-D0539E9D6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de-AT" sz="2000">
                <a:solidFill>
                  <a:schemeClr val="tx2"/>
                </a:solidFill>
              </a:rPr>
              <a:t>Luiz Leão Junior and Susanne Danninger</a:t>
            </a:r>
          </a:p>
        </p:txBody>
      </p:sp>
      <p:pic>
        <p:nvPicPr>
          <p:cNvPr id="7" name="Graphic 6" descr="Computer">
            <a:extLst>
              <a:ext uri="{FF2B5EF4-FFF2-40B4-BE49-F238E27FC236}">
                <a16:creationId xmlns:a16="http://schemas.microsoft.com/office/drawing/2014/main" id="{F27B7C18-3662-9D69-F52F-7CDA20E5AF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74501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Inhaltsplatzhalter 5" descr="Ein Bild, das Screenshot, Text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0BA57E1D-56BE-30A3-0816-FAA09C1E1B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113" y="113190"/>
            <a:ext cx="9911774" cy="6631619"/>
          </a:xfrm>
        </p:spPr>
      </p:pic>
    </p:spTree>
    <p:extLst>
      <p:ext uri="{BB962C8B-B14F-4D97-AF65-F5344CB8AC3E}">
        <p14:creationId xmlns:p14="http://schemas.microsoft.com/office/powerpoint/2010/main" val="3178089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8A0A6BE-9541-A905-920B-8995B69F1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AT" sz="3600">
                <a:solidFill>
                  <a:schemeClr val="tx2"/>
                </a:solidFill>
              </a:rPr>
              <a:t>Project Components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3D40D5-F759-FB34-6324-AF77B385A5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AT" sz="1800" b="1">
                <a:solidFill>
                  <a:schemeClr val="tx2"/>
                </a:solidFill>
              </a:rPr>
              <a:t>Docker</a:t>
            </a:r>
            <a:r>
              <a:rPr lang="de-AT" sz="1800">
                <a:solidFill>
                  <a:schemeClr val="tx2"/>
                </a:solidFill>
              </a:rPr>
              <a:t>: On-premise setup is done using Docker Compose</a:t>
            </a:r>
          </a:p>
          <a:p>
            <a:r>
              <a:rPr lang="de-AT" sz="1800" b="1">
                <a:solidFill>
                  <a:schemeClr val="tx2"/>
                </a:solidFill>
              </a:rPr>
              <a:t>Traefik</a:t>
            </a:r>
            <a:r>
              <a:rPr lang="de-AT" sz="1800">
                <a:solidFill>
                  <a:schemeClr val="tx2"/>
                </a:solidFill>
              </a:rPr>
              <a:t>: Reverse Proxy &amp; Load Balancer</a:t>
            </a:r>
          </a:p>
          <a:p>
            <a:r>
              <a:rPr lang="de-AT" sz="1800" b="1">
                <a:solidFill>
                  <a:schemeClr val="tx2"/>
                </a:solidFill>
              </a:rPr>
              <a:t>Ngnix</a:t>
            </a:r>
            <a:r>
              <a:rPr lang="de-AT" sz="1800">
                <a:solidFill>
                  <a:schemeClr val="tx2"/>
                </a:solidFill>
              </a:rPr>
              <a:t>: Web Server that can be scaled horizontally</a:t>
            </a:r>
          </a:p>
          <a:p>
            <a:r>
              <a:rPr lang="de-AT" sz="1800" b="1">
                <a:solidFill>
                  <a:schemeClr val="tx2"/>
                </a:solidFill>
              </a:rPr>
              <a:t>Azure Event Hub</a:t>
            </a:r>
            <a:r>
              <a:rPr lang="de-AT" sz="1800">
                <a:solidFill>
                  <a:schemeClr val="tx2"/>
                </a:solidFill>
              </a:rPr>
              <a:t>: Cloud-based event streaming for the order events</a:t>
            </a:r>
          </a:p>
          <a:p>
            <a:r>
              <a:rPr lang="de-AT" sz="1800" b="1">
                <a:solidFill>
                  <a:schemeClr val="tx2"/>
                </a:solidFill>
              </a:rPr>
              <a:t>Azure Storage Container</a:t>
            </a:r>
            <a:r>
              <a:rPr lang="de-AT" sz="1800">
                <a:solidFill>
                  <a:schemeClr val="tx2"/>
                </a:solidFill>
              </a:rPr>
              <a:t>: Long-term archive for order events</a:t>
            </a:r>
          </a:p>
          <a:p>
            <a:endParaRPr lang="de-AT" sz="1800">
              <a:solidFill>
                <a:schemeClr val="tx2"/>
              </a:solidFill>
            </a:endParaRPr>
          </a:p>
          <a:p>
            <a:endParaRPr lang="de-AT" sz="180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75841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9331A02-310F-A86E-7E9E-0F119A5A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AT" sz="3600">
                <a:solidFill>
                  <a:schemeClr val="tx2"/>
                </a:solidFill>
              </a:rPr>
              <a:t>Project Components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89F7955-47AA-6C71-746B-66BF952B63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AT" sz="1800" b="1">
                <a:solidFill>
                  <a:schemeClr val="tx2"/>
                </a:solidFill>
              </a:rPr>
              <a:t>Order Processor</a:t>
            </a:r>
            <a:r>
              <a:rPr lang="de-AT" sz="1800">
                <a:solidFill>
                  <a:schemeClr val="tx2"/>
                </a:solidFill>
              </a:rPr>
              <a:t>: Service that consumes events from Event Hub &amp; processes them into the MySQL database</a:t>
            </a:r>
          </a:p>
          <a:p>
            <a:r>
              <a:rPr lang="de-AT" sz="1800" b="1">
                <a:solidFill>
                  <a:schemeClr val="tx2"/>
                </a:solidFill>
              </a:rPr>
              <a:t>MySQL Database</a:t>
            </a:r>
            <a:r>
              <a:rPr lang="de-AT" sz="1800">
                <a:solidFill>
                  <a:schemeClr val="tx2"/>
                </a:solidFill>
              </a:rPr>
              <a:t>: Operational database for storing orders</a:t>
            </a:r>
          </a:p>
          <a:p>
            <a:r>
              <a:rPr lang="de-AT" sz="1800" b="1">
                <a:solidFill>
                  <a:schemeClr val="tx2"/>
                </a:solidFill>
              </a:rPr>
              <a:t>Ansible</a:t>
            </a:r>
            <a:r>
              <a:rPr lang="de-AT" sz="1800">
                <a:solidFill>
                  <a:schemeClr val="tx2"/>
                </a:solidFill>
              </a:rPr>
              <a:t>: Automation of on-premise setup &amp; modification of index.html of nginx container</a:t>
            </a:r>
          </a:p>
          <a:p>
            <a:r>
              <a:rPr lang="de-AT" sz="1800" b="1">
                <a:solidFill>
                  <a:schemeClr val="tx2"/>
                </a:solidFill>
              </a:rPr>
              <a:t>Terraform</a:t>
            </a:r>
            <a:r>
              <a:rPr lang="de-AT" sz="1800">
                <a:solidFill>
                  <a:schemeClr val="tx2"/>
                </a:solidFill>
              </a:rPr>
              <a:t>: Provision of Azure Event Hub &amp; Storage</a:t>
            </a:r>
          </a:p>
          <a:p>
            <a:r>
              <a:rPr lang="de-AT" sz="1800" b="1">
                <a:solidFill>
                  <a:schemeClr val="tx2"/>
                </a:solidFill>
              </a:rPr>
              <a:t>AI Agent with Langflow</a:t>
            </a:r>
            <a:r>
              <a:rPr lang="de-AT" sz="1800">
                <a:solidFill>
                  <a:schemeClr val="tx2"/>
                </a:solidFill>
              </a:rPr>
              <a:t>: AI-powered agent with which the database can be queried in natural language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26630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6">
            <a:extLst>
              <a:ext uri="{FF2B5EF4-FFF2-40B4-BE49-F238E27FC236}">
                <a16:creationId xmlns:a16="http://schemas.microsoft.com/office/drawing/2014/main" id="{73A25D70-4A55-4F72-B9C5-A69CDBF4D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8">
            <a:extLst>
              <a:ext uri="{FF2B5EF4-FFF2-40B4-BE49-F238E27FC236}">
                <a16:creationId xmlns:a16="http://schemas.microsoft.com/office/drawing/2014/main" id="{54957100-6D8B-4161-9F2F-C0A949EC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33" name="Freeform: Shape 10">
            <a:extLst>
              <a:ext uri="{FF2B5EF4-FFF2-40B4-BE49-F238E27FC236}">
                <a16:creationId xmlns:a16="http://schemas.microsoft.com/office/drawing/2014/main" id="{CBCB02B1-1B82-403C-B7D2-E2CED1882F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12">
            <a:extLst>
              <a:ext uri="{FF2B5EF4-FFF2-40B4-BE49-F238E27FC236}">
                <a16:creationId xmlns:a16="http://schemas.microsoft.com/office/drawing/2014/main" id="{CCDE13A7-6382-4A67-BEBE-4FF1F37C7F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35" name="Freeform: Shape 13">
              <a:extLst>
                <a:ext uri="{FF2B5EF4-FFF2-40B4-BE49-F238E27FC236}">
                  <a16:creationId xmlns:a16="http://schemas.microsoft.com/office/drawing/2014/main" id="{E9978FC9-2E40-4257-8D97-FAB20CA4BF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6" name="Freeform: Shape 14">
              <a:extLst>
                <a:ext uri="{FF2B5EF4-FFF2-40B4-BE49-F238E27FC236}">
                  <a16:creationId xmlns:a16="http://schemas.microsoft.com/office/drawing/2014/main" id="{740ABB98-77BA-4C40-8121-34D196E58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7" name="Freeform: Shape 15">
              <a:extLst>
                <a:ext uri="{FF2B5EF4-FFF2-40B4-BE49-F238E27FC236}">
                  <a16:creationId xmlns:a16="http://schemas.microsoft.com/office/drawing/2014/main" id="{41AA752E-66C1-4835-8A3C-556475159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8" name="Freeform: Shape 16">
              <a:extLst>
                <a:ext uri="{FF2B5EF4-FFF2-40B4-BE49-F238E27FC236}">
                  <a16:creationId xmlns:a16="http://schemas.microsoft.com/office/drawing/2014/main" id="{EE9555AB-2295-4939-AEC9-B2CBFCB4CC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9" name="Freeform: Shape 17">
              <a:extLst>
                <a:ext uri="{FF2B5EF4-FFF2-40B4-BE49-F238E27FC236}">
                  <a16:creationId xmlns:a16="http://schemas.microsoft.com/office/drawing/2014/main" id="{97499201-5A2C-48B3-9B02-5519B88294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3FC2AE7-C60C-4C48-BCAE-410BB6C3D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40EA1593-6BC9-441E-8F3C-46DD50F810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26511E-249C-5CC9-F957-3EE323C55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1787" y="1741337"/>
            <a:ext cx="5448730" cy="23879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Live-Demo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7147D5D-F01F-4164-BD81-D10DC6F23E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142" y="2854"/>
            <a:ext cx="2783421" cy="2406445"/>
            <a:chOff x="-305" y="-4155"/>
            <a:chExt cx="2514948" cy="2174333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24C7412-3E2D-4708-8DC3-425A457A10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1483A6A-CB0B-4469-B09D-C9451F9B0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A935E9D-EB55-46F3-BCCB-9CB918E87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EDC5655-C7D7-4936-91EA-E188A96DC6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D0E248E-80AB-4B35-BA8D-F940FCB44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417253" y="4456669"/>
            <a:ext cx="2783421" cy="2406445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9E91B0A-66E8-4298-BAC6-004DBE491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A629C66-36BD-487E-B1CD-ED026D7789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6BC2D2C-3D7D-4224-81BC-22C094C9FB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3BDF903-22C5-4312-8776-C2ABC3EDC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23710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9E5FD9-CA01-E851-0C75-A94F045E3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Loadbalancing between 3 Web Servers </a:t>
            </a:r>
            <a:endParaRPr lang="de-AT" dirty="0"/>
          </a:p>
        </p:txBody>
      </p:sp>
      <p:pic>
        <p:nvPicPr>
          <p:cNvPr id="5" name="Inhaltsplatzhalter 4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073EC8E2-7925-E255-BC43-D0CC052097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8203" y="1835176"/>
            <a:ext cx="4823878" cy="2034716"/>
          </a:xfrm>
          <a:prstGeom prst="rect">
            <a:avLst/>
          </a:prstGeom>
        </p:spPr>
      </p:pic>
      <p:pic>
        <p:nvPicPr>
          <p:cNvPr id="7" name="Grafik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B5A9056E-349E-AAB6-2F13-7EF98C874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5108" y="2932860"/>
            <a:ext cx="4656223" cy="1691787"/>
          </a:xfrm>
          <a:prstGeom prst="rect">
            <a:avLst/>
          </a:prstGeom>
        </p:spPr>
      </p:pic>
      <p:pic>
        <p:nvPicPr>
          <p:cNvPr id="9" name="Grafik 8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181AE71D-96A2-FB1D-53AA-846CCC8AE1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4455" y="4115161"/>
            <a:ext cx="4473328" cy="16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394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7F2FB-CA10-1227-E8CB-DD7D57FC0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5" name="Inhaltsplatzhalter 4" descr="Ein Bild, das Text, Screenshot, Zahl, Software enthält.&#10;&#10;KI-generierte Inhalte können fehlerhaft sein.">
            <a:extLst>
              <a:ext uri="{FF2B5EF4-FFF2-40B4-BE49-F238E27FC236}">
                <a16:creationId xmlns:a16="http://schemas.microsoft.com/office/drawing/2014/main" id="{6C4F6EEF-58D1-26DA-66A9-2E27D46613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905" y="338275"/>
            <a:ext cx="11868189" cy="6181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853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71F383-09AA-4C6F-A86C-F479E8AA1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5" name="Inhaltsplatzhalter 4" descr="Ein Bild, das Text, Screenshot, Software, Zahl enthält.&#10;&#10;KI-generierte Inhalte können fehlerhaft sein.">
            <a:extLst>
              <a:ext uri="{FF2B5EF4-FFF2-40B4-BE49-F238E27FC236}">
                <a16:creationId xmlns:a16="http://schemas.microsoft.com/office/drawing/2014/main" id="{8B155E8C-DB62-399A-2EB0-AA5AE23C03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924" y="182878"/>
            <a:ext cx="11834151" cy="6492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25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nhaltsplatzhalter 10" descr="Ein Bild, das Text, Screenshot, Software, Webseite enthält.&#10;&#10;KI-generierte Inhalte können fehlerhaft sein.">
            <a:extLst>
              <a:ext uri="{FF2B5EF4-FFF2-40B4-BE49-F238E27FC236}">
                <a16:creationId xmlns:a16="http://schemas.microsoft.com/office/drawing/2014/main" id="{61DDD6FC-9600-6E39-EA70-4EC70BD32D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6426" y="1694526"/>
            <a:ext cx="11759147" cy="346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917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270073-CC5B-E13D-3573-912A470A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AI Agent Setup</a:t>
            </a:r>
          </a:p>
        </p:txBody>
      </p:sp>
      <p:pic>
        <p:nvPicPr>
          <p:cNvPr id="5" name="Inhaltsplatzhalter 4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87F93BFC-6565-007C-1005-19EB41CB22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4598" b="5355"/>
          <a:stretch>
            <a:fillRect/>
          </a:stretch>
        </p:blipFill>
        <p:spPr>
          <a:xfrm>
            <a:off x="1999902" y="1404753"/>
            <a:ext cx="8070221" cy="497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906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AFE3AF-20E3-A4EA-FC14-9E96691D7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AI Agent </a:t>
            </a:r>
            <a:r>
              <a:rPr lang="de-AT" dirty="0" err="1"/>
              <a:t>Example</a:t>
            </a:r>
            <a:endParaRPr lang="de-AT" dirty="0"/>
          </a:p>
        </p:txBody>
      </p:sp>
      <p:pic>
        <p:nvPicPr>
          <p:cNvPr id="5" name="Inhaltsplatzhalter 4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4B68C99-AC44-3D40-902B-4EDF16D833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5503" y="1415317"/>
            <a:ext cx="8500993" cy="4903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498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</Words>
  <Application>Microsoft Office PowerPoint</Application>
  <PresentationFormat>Breitbild</PresentationFormat>
  <Paragraphs>18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</vt:lpstr>
      <vt:lpstr>Infrastructure for Order Processing System</vt:lpstr>
      <vt:lpstr>PowerPoint-Präsentation</vt:lpstr>
      <vt:lpstr>Project Components</vt:lpstr>
      <vt:lpstr>Project Components</vt:lpstr>
      <vt:lpstr>Live-Demo</vt:lpstr>
      <vt:lpstr>Loadbalancing between 3 Web Servers </vt:lpstr>
      <vt:lpstr>PowerPoint-Präsentation</vt:lpstr>
      <vt:lpstr>PowerPoint-Präsentation</vt:lpstr>
      <vt:lpstr>PowerPoint-Präsentation</vt:lpstr>
      <vt:lpstr>AI Agent Setup</vt:lpstr>
      <vt:lpstr>AI Agent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Susanne Danninger</dc:creator>
  <cp:lastModifiedBy>Susanne Danninger</cp:lastModifiedBy>
  <cp:revision>3</cp:revision>
  <dcterms:created xsi:type="dcterms:W3CDTF">2026-01-15T00:09:52Z</dcterms:created>
  <dcterms:modified xsi:type="dcterms:W3CDTF">2026-01-15T21:31:56Z</dcterms:modified>
</cp:coreProperties>
</file>